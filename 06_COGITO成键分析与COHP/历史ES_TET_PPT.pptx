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image" Target="../media/image2.png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71.xml"/><Relationship Id="rId12" Type="http://schemas.openxmlformats.org/officeDocument/2006/relationships/image" Target="../media/image4.png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0" y="92075"/>
            <a:ext cx="4945380" cy="6363335"/>
            <a:chOff x="2984" y="262"/>
            <a:chExt cx="7788" cy="10021"/>
          </a:xfrm>
        </p:grpSpPr>
        <p:sp>
          <p:nvSpPr>
            <p:cNvPr id="5" name="文本框 4"/>
            <p:cNvSpPr txBox="1"/>
            <p:nvPr>
              <p:custDataLst>
                <p:tags r:id="rId1"/>
              </p:custDataLst>
            </p:nvPr>
          </p:nvSpPr>
          <p:spPr>
            <a:xfrm>
              <a:off x="6566" y="5227"/>
              <a:ext cx="4207" cy="376"/>
            </a:xfrm>
            <a:prstGeom prst="rect">
              <a:avLst/>
            </a:prstGeom>
          </p:spPr>
          <p:txBody>
            <a:bodyPr>
              <a:noAutofit/>
            </a:bodyPr>
            <a:p>
              <a:pPr algn="ctr"/>
              <a:r>
                <a:rPr lang="en-US" altLang="zh-CN" sz="1600"/>
                <a:t>Sn2Sb2Te5</a:t>
              </a:r>
              <a:endParaRPr lang="en-US" altLang="zh-CN" sz="1600"/>
            </a:p>
          </p:txBody>
        </p:sp>
        <p:pic>
          <p:nvPicPr>
            <p:cNvPr id="6" name="图片 5" descr="elf_slice_POSCAR_B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2985" y="778"/>
              <a:ext cx="3849" cy="4583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>
              <p:custDataLst>
                <p:tags r:id="rId4"/>
              </p:custDataLst>
            </p:nvPr>
          </p:nvSpPr>
          <p:spPr>
            <a:xfrm>
              <a:off x="3896" y="279"/>
              <a:ext cx="2212" cy="43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pPr algn="ctr"/>
              <a:r>
                <a:rPr lang="en-US" altLang="zh-CN" sz="1600">
                  <a:sym typeface="+mn-ea"/>
                </a:rPr>
                <a:t>Pb2Bi2Te5</a:t>
              </a:r>
              <a:endParaRPr lang="en-US" altLang="zh-CN" sz="1600">
                <a:sym typeface="+mn-ea"/>
              </a:endParaRPr>
            </a:p>
          </p:txBody>
        </p:sp>
        <p:pic>
          <p:nvPicPr>
            <p:cNvPr id="8" name="图片 7" descr="elf_slice_POSCAR_B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6761" y="778"/>
              <a:ext cx="3849" cy="4583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>
              <p:custDataLst>
                <p:tags r:id="rId7"/>
              </p:custDataLst>
            </p:nvPr>
          </p:nvSpPr>
          <p:spPr>
            <a:xfrm>
              <a:off x="6695" y="262"/>
              <a:ext cx="3972" cy="46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pPr algn="ctr"/>
              <a:r>
                <a:rPr lang="en-US" altLang="zh-CN" sz="1600">
                  <a:sym typeface="+mn-ea"/>
                </a:rPr>
                <a:t>Pb2Sb2Te5</a:t>
              </a:r>
              <a:endParaRPr lang="en-US" altLang="zh-CN" sz="1600">
                <a:sym typeface="+mn-ea"/>
              </a:endParaRPr>
            </a:p>
          </p:txBody>
        </p:sp>
        <p:pic>
          <p:nvPicPr>
            <p:cNvPr id="10" name="图片 9" descr="elf_slice_POSCAR_B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2984" y="5701"/>
              <a:ext cx="3850" cy="4583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>
              <p:custDataLst>
                <p:tags r:id="rId10"/>
              </p:custDataLst>
            </p:nvPr>
          </p:nvSpPr>
          <p:spPr>
            <a:xfrm>
              <a:off x="3555" y="5170"/>
              <a:ext cx="2824" cy="477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pPr algn="ctr"/>
              <a:r>
                <a:rPr lang="en-US" altLang="zh-CN" sz="1600">
                  <a:sym typeface="+mn-ea"/>
                </a:rPr>
                <a:t>Sn2Bi2Te5</a:t>
              </a:r>
              <a:endParaRPr lang="en-US" altLang="zh-CN" sz="1600">
                <a:sym typeface="+mn-ea"/>
              </a:endParaRPr>
            </a:p>
          </p:txBody>
        </p:sp>
        <p:pic>
          <p:nvPicPr>
            <p:cNvPr id="12" name="图片 11" descr="elf_slice_POSCAR_B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6761" y="5701"/>
              <a:ext cx="3850" cy="4583"/>
            </a:xfrm>
            <a:prstGeom prst="rect">
              <a:avLst/>
            </a:prstGeom>
          </p:spPr>
        </p:pic>
      </p:grpSp>
      <p:sp>
        <p:nvSpPr>
          <p:cNvPr id="14" name="文本框 13"/>
          <p:cNvSpPr txBox="1"/>
          <p:nvPr/>
        </p:nvSpPr>
        <p:spPr>
          <a:xfrm>
            <a:off x="5085080" y="208915"/>
            <a:ext cx="7123430" cy="47694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第 15 族位点（</a:t>
            </a:r>
            <a:r>
              <a:rPr lang="en-US" altLang="zh-CN" sz="1600"/>
              <a:t>Bi vs Sb）：</a:t>
            </a:r>
            <a:endParaRPr lang="en-US" altLang="zh-CN" sz="1600"/>
          </a:p>
          <a:p>
            <a:r>
              <a:rPr lang="zh-CN" altLang="en-US" sz="1600"/>
              <a:t>含 </a:t>
            </a:r>
            <a:r>
              <a:rPr lang="en-US" altLang="zh-CN" sz="1600"/>
              <a:t>Bi </a:t>
            </a:r>
            <a:r>
              <a:rPr lang="zh-CN" altLang="en-US" sz="1600"/>
              <a:t>的图（1、3）里，</a:t>
            </a:r>
            <a:r>
              <a:rPr lang="en-US" altLang="zh-CN" sz="1600"/>
              <a:t>Bi </a:t>
            </a:r>
            <a:r>
              <a:rPr lang="zh-CN" altLang="en-US" sz="1600"/>
              <a:t>周围只有一圈比较对称的绿/青色 </a:t>
            </a:r>
            <a:r>
              <a:rPr lang="en-US" altLang="zh-CN" sz="1600"/>
              <a:t>ELF（</a:t>
            </a:r>
            <a:r>
              <a:rPr lang="zh-CN" altLang="en-US" sz="1600"/>
              <a:t>约 0.4–0.5），没有明显方向性的鼓包。而含 </a:t>
            </a:r>
            <a:r>
              <a:rPr lang="en-US" altLang="zh-CN" sz="1600"/>
              <a:t>Sb </a:t>
            </a:r>
            <a:r>
              <a:rPr lang="zh-CN" altLang="en-US" sz="1600"/>
              <a:t>的图（2、4）里，</a:t>
            </a:r>
            <a:r>
              <a:rPr lang="en-US" altLang="zh-CN" sz="1600"/>
              <a:t>Sb </a:t>
            </a:r>
            <a:r>
              <a:rPr lang="zh-CN" altLang="en-US" sz="1600"/>
              <a:t>处于一片高 </a:t>
            </a:r>
            <a:r>
              <a:rPr lang="en-US" altLang="zh-CN" sz="1600"/>
              <a:t>ELF（</a:t>
            </a:r>
            <a:r>
              <a:rPr lang="zh-CN" altLang="en-US" sz="1600"/>
              <a:t>红色）区域，并且能看到一个偏心的、不对称的红色瓣状突起——这正是立体化学活性孤对电子的典型 </a:t>
            </a:r>
            <a:r>
              <a:rPr lang="en-US" altLang="zh-CN" sz="1600"/>
              <a:t>ELF </a:t>
            </a:r>
            <a:r>
              <a:rPr lang="zh-CN" altLang="en-US" sz="1600"/>
              <a:t>特征。所以 </a:t>
            </a:r>
            <a:r>
              <a:rPr lang="en-US" altLang="zh-CN" sz="1600"/>
              <a:t>Sb </a:t>
            </a:r>
            <a:r>
              <a:rPr lang="zh-CN" altLang="en-US" sz="1600"/>
              <a:t>的 5</a:t>
            </a:r>
            <a:r>
              <a:rPr lang="en-US" altLang="zh-CN" sz="1600"/>
              <a:t>s² </a:t>
            </a:r>
            <a:r>
              <a:rPr lang="zh-CN" altLang="en-US" sz="1600"/>
              <a:t>孤对明显比 </a:t>
            </a:r>
            <a:r>
              <a:rPr lang="en-US" altLang="zh-CN" sz="1600"/>
              <a:t>Bi </a:t>
            </a:r>
            <a:r>
              <a:rPr lang="zh-CN" altLang="en-US" sz="1600"/>
              <a:t>的 6</a:t>
            </a:r>
            <a:r>
              <a:rPr lang="en-US" altLang="zh-CN" sz="1600"/>
              <a:t>s² </a:t>
            </a:r>
            <a:r>
              <a:rPr lang="zh-CN" altLang="en-US" sz="1600"/>
              <a:t>更"活"、更有方向性。</a:t>
            </a:r>
            <a:endParaRPr lang="en-US" altLang="zh-CN" sz="1600"/>
          </a:p>
          <a:p>
            <a:r>
              <a:rPr lang="zh-CN" altLang="en-US" sz="1600"/>
              <a:t>第 14 族位点（</a:t>
            </a:r>
            <a:r>
              <a:rPr lang="en-US" altLang="zh-CN" sz="1600"/>
              <a:t>Pb vs Sn）：</a:t>
            </a:r>
            <a:endParaRPr lang="en-US" altLang="zh-CN" sz="1600"/>
          </a:p>
          <a:p>
            <a:r>
              <a:rPr lang="en-US" altLang="zh-CN" sz="1600"/>
              <a:t>Pb（</a:t>
            </a:r>
            <a:r>
              <a:rPr lang="zh-CN" altLang="en-US" sz="1600"/>
              <a:t>图1、2）中心几乎是深蓝，</a:t>
            </a:r>
            <a:r>
              <a:rPr lang="en-US" altLang="zh-CN" sz="1600"/>
              <a:t>ELF </a:t>
            </a:r>
            <a:r>
              <a:rPr lang="zh-CN" altLang="en-US" sz="1600"/>
              <a:t>很低、近乎球对称——典型的"惰性对"，孤对被压回近核区。</a:t>
            </a:r>
            <a:r>
              <a:rPr lang="en-US" altLang="zh-CN" sz="1600"/>
              <a:t>Sn（</a:t>
            </a:r>
            <a:r>
              <a:rPr lang="zh-CN" altLang="en-US" sz="1600"/>
              <a:t>图3、4）则是一圈更高的绿色 </a:t>
            </a:r>
            <a:r>
              <a:rPr lang="en-US" altLang="zh-CN" sz="1600"/>
              <a:t>ELF，</a:t>
            </a:r>
            <a:r>
              <a:rPr lang="zh-CN" altLang="en-US" sz="1600"/>
              <a:t>说明 </a:t>
            </a:r>
            <a:r>
              <a:rPr lang="en-US" altLang="zh-CN" sz="1600"/>
              <a:t>Sn </a:t>
            </a:r>
            <a:r>
              <a:rPr lang="zh-CN" altLang="en-US" sz="1600"/>
              <a:t>的 5</a:t>
            </a:r>
            <a:r>
              <a:rPr lang="en-US" altLang="zh-CN" sz="1600"/>
              <a:t>s² </a:t>
            </a:r>
            <a:r>
              <a:rPr lang="zh-CN" altLang="en-US" sz="1600"/>
              <a:t>孤对比 </a:t>
            </a:r>
            <a:r>
              <a:rPr lang="en-US" altLang="zh-CN" sz="1600"/>
              <a:t>Pb </a:t>
            </a:r>
            <a:r>
              <a:rPr lang="zh-CN" altLang="en-US" sz="1600"/>
              <a:t>的 6</a:t>
            </a:r>
            <a:r>
              <a:rPr lang="en-US" altLang="zh-CN" sz="1600"/>
              <a:t>s² </a:t>
            </a:r>
            <a:r>
              <a:rPr lang="zh-CN" altLang="en-US" sz="1600"/>
              <a:t>活性更强。</a:t>
            </a:r>
            <a:endParaRPr lang="zh-CN" altLang="en-US" sz="1600"/>
          </a:p>
          <a:p>
            <a:endParaRPr lang="en-US" altLang="zh-CN" sz="1600"/>
          </a:p>
          <a:p>
            <a:r>
              <a:rPr lang="zh-CN" altLang="en-US" sz="1600"/>
              <a:t>规律总结</a:t>
            </a:r>
            <a:endParaRPr lang="en-US" altLang="zh-CN" sz="1600"/>
          </a:p>
          <a:p>
            <a:r>
              <a:rPr lang="zh-CN" altLang="en-US" sz="1600"/>
              <a:t>立体化学活性的强弱排序大致是：</a:t>
            </a:r>
            <a:endParaRPr lang="en-US" altLang="zh-CN" sz="1600"/>
          </a:p>
          <a:p>
            <a:r>
              <a:rPr lang="en-US" altLang="zh-CN" sz="1600"/>
              <a:t>Sb&gt;Bi,Sn&gt;Pb</a:t>
            </a:r>
            <a:endParaRPr lang="en-US" altLang="zh-CN" sz="1600"/>
          </a:p>
          <a:p>
            <a:r>
              <a:rPr lang="en-US" altLang="zh-CN" sz="1600"/>
              <a:t>Sb&gt;Bi,Sn&gt;Pb</a:t>
            </a:r>
            <a:endParaRPr lang="en-US" altLang="zh-CN" sz="1600"/>
          </a:p>
          <a:p>
            <a:r>
              <a:rPr lang="zh-CN" altLang="en-US" sz="1600"/>
              <a:t>叠加到四个化合物上：</a:t>
            </a:r>
            <a:endParaRPr lang="en-US" altLang="zh-CN" sz="1600"/>
          </a:p>
          <a:p>
            <a:r>
              <a:rPr lang="en-US" altLang="zh-CN" sz="1600"/>
              <a:t>Sn₂Sb₂Te₅（</a:t>
            </a:r>
            <a:r>
              <a:rPr lang="zh-CN" altLang="en-US" sz="1600"/>
              <a:t>图4）：两个阳离子位点的孤对都活，畸变/共价特征最强</a:t>
            </a:r>
            <a:endParaRPr lang="zh-CN" altLang="en-US" sz="1600"/>
          </a:p>
          <a:p>
            <a:r>
              <a:rPr lang="en-US" altLang="zh-CN" sz="1600"/>
              <a:t>Pb₂Bi₂Te₅（</a:t>
            </a:r>
            <a:r>
              <a:rPr lang="zh-CN" altLang="en-US" sz="1600"/>
              <a:t>图1）：两个都惰，最"离子化"、最对称</a:t>
            </a:r>
            <a:endParaRPr lang="zh-CN" altLang="en-US" sz="1600"/>
          </a:p>
          <a:p>
            <a:r>
              <a:rPr lang="en-US" altLang="zh-CN" sz="1600"/>
              <a:t>Pb₂Sb₂Te₅、Sn₂Bi₂Te₅ </a:t>
            </a:r>
            <a:r>
              <a:rPr lang="zh-CN" altLang="en-US" sz="1600"/>
              <a:t>居中</a:t>
            </a:r>
            <a:endParaRPr lang="zh-CN" altLang="en-US" sz="1600"/>
          </a:p>
        </p:txBody>
      </p:sp>
      <p:sp>
        <p:nvSpPr>
          <p:cNvPr id="16" name="文本框 15"/>
          <p:cNvSpPr txBox="1"/>
          <p:nvPr/>
        </p:nvSpPr>
        <p:spPr>
          <a:xfrm>
            <a:off x="5085080" y="5275580"/>
            <a:ext cx="7124065" cy="13220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Sb–Te </a:t>
            </a:r>
            <a:r>
              <a:rPr lang="zh-CN" altLang="en-US" sz="1600"/>
              <a:t>之间的 </a:t>
            </a:r>
            <a:r>
              <a:rPr lang="en-US" altLang="zh-CN" sz="1600"/>
              <a:t>ELF"</a:t>
            </a:r>
            <a:r>
              <a:rPr lang="zh-CN" altLang="en-US" sz="1600"/>
              <a:t>桥</a:t>
            </a:r>
            <a:r>
              <a:rPr lang="en-US" altLang="zh-CN" sz="1600"/>
              <a:t>"</a:t>
            </a:r>
            <a:r>
              <a:rPr lang="zh-CN" altLang="en-US" sz="1600"/>
              <a:t>（青绿色连通区）比 </a:t>
            </a:r>
            <a:r>
              <a:rPr lang="en-US" altLang="zh-CN" sz="1600"/>
              <a:t>Bi–Te </a:t>
            </a:r>
            <a:r>
              <a:rPr lang="zh-CN" altLang="en-US" sz="1600"/>
              <a:t>更连续、更高，暗示 </a:t>
            </a:r>
            <a:r>
              <a:rPr lang="en-US" altLang="zh-CN" sz="1600"/>
              <a:t>Sb–Te </a:t>
            </a:r>
            <a:r>
              <a:rPr lang="zh-CN" altLang="en-US" sz="1600"/>
              <a:t>键更共价、</a:t>
            </a:r>
            <a:r>
              <a:rPr lang="en-US" altLang="zh-CN" sz="1600"/>
              <a:t>Bi–Te </a:t>
            </a:r>
            <a:r>
              <a:rPr lang="zh-CN" altLang="en-US" sz="1600"/>
              <a:t>更偏离子</a:t>
            </a:r>
            <a:r>
              <a:rPr lang="en-US" altLang="zh-CN" sz="1600"/>
              <a:t>——</a:t>
            </a:r>
            <a:r>
              <a:rPr lang="zh-CN" altLang="en-US" sz="1600"/>
              <a:t>这与孤对活性是一致的。</a:t>
            </a:r>
            <a:endParaRPr lang="zh-CN" altLang="en-US" sz="1600"/>
          </a:p>
          <a:p>
            <a:r>
              <a:rPr lang="zh-CN" altLang="en-US" sz="1600"/>
              <a:t>活性孤对会造成局部结构畸变、局域对称性降低，并引入较强的非谐振动。对这类层状碲化物（属于 </a:t>
            </a:r>
            <a:r>
              <a:rPr lang="en-US" altLang="zh-CN" sz="1600"/>
              <a:t>PbTe–Bi₂Te₃ </a:t>
            </a:r>
            <a:r>
              <a:rPr lang="zh-CN" altLang="en-US" sz="1600"/>
              <a:t>同系</a:t>
            </a:r>
            <a:r>
              <a:rPr lang="en-US" altLang="zh-CN" sz="1600"/>
              <a:t>/tetradymite </a:t>
            </a:r>
            <a:r>
              <a:rPr lang="zh-CN" altLang="en-US" sz="1600"/>
              <a:t>家族）的热电性质，这通常意味着更低的晶格热导率，所以 </a:t>
            </a:r>
            <a:r>
              <a:rPr lang="en-US" altLang="zh-CN" sz="1600"/>
              <a:t>Sn/Sb </a:t>
            </a:r>
            <a:r>
              <a:rPr lang="zh-CN" altLang="en-US" sz="1600"/>
              <a:t>端往往在这方面更</a:t>
            </a:r>
            <a:r>
              <a:rPr lang="en-US" altLang="zh-CN" sz="1600"/>
              <a:t>"</a:t>
            </a:r>
            <a:r>
              <a:rPr lang="zh-CN" altLang="en-US" sz="1600"/>
              <a:t>有戏</a:t>
            </a:r>
            <a:r>
              <a:rPr lang="en-US" altLang="zh-CN" sz="1600"/>
              <a:t>"</a:t>
            </a:r>
            <a:r>
              <a:rPr lang="zh-CN" altLang="en-US" sz="1600"/>
              <a:t>。</a:t>
            </a:r>
            <a:endParaRPr lang="zh-CN" altLang="en-US" sz="1600"/>
          </a:p>
        </p:txBody>
      </p:sp>
    </p:spTree>
    <p:custDataLst>
      <p:tags r:id="rId1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DIAGRAM_VIRTUALLY_FRAME" val="{&quot;height&quot;:526.9,&quot;left&quot;:100.4,&quot;top&quot;:13.1,&quot;width&quot;:438.25}"/>
</p:tagLst>
</file>

<file path=ppt/tags/tag64.xml><?xml version="1.0" encoding="utf-8"?>
<p:tagLst xmlns:p="http://schemas.openxmlformats.org/presentationml/2006/main">
  <p:tag name="KSO_WM_DIAGRAM_VIRTUALLY_FRAME" val="{&quot;height&quot;:526.9,&quot;left&quot;:100.4,&quot;top&quot;:13.1,&quot;width&quot;:438.25}"/>
</p:tagLst>
</file>

<file path=ppt/tags/tag65.xml><?xml version="1.0" encoding="utf-8"?>
<p:tagLst xmlns:p="http://schemas.openxmlformats.org/presentationml/2006/main">
  <p:tag name="KSO_WM_DIAGRAM_VIRTUALLY_FRAME" val="{&quot;height&quot;:526.9,&quot;left&quot;:100.4,&quot;top&quot;:13.1,&quot;width&quot;:438.25}"/>
</p:tagLst>
</file>

<file path=ppt/tags/tag66.xml><?xml version="1.0" encoding="utf-8"?>
<p:tagLst xmlns:p="http://schemas.openxmlformats.org/presentationml/2006/main">
  <p:tag name="KSO_WM_DIAGRAM_VIRTUALLY_FRAME" val="{&quot;height&quot;:526.9,&quot;left&quot;:100.4,&quot;top&quot;:13.1,&quot;width&quot;:438.25}"/>
</p:tagLst>
</file>

<file path=ppt/tags/tag67.xml><?xml version="1.0" encoding="utf-8"?>
<p:tagLst xmlns:p="http://schemas.openxmlformats.org/presentationml/2006/main">
  <p:tag name="KSO_WM_DIAGRAM_VIRTUALLY_FRAME" val="{&quot;height&quot;:526.9,&quot;left&quot;:100.4,&quot;top&quot;:13.1,&quot;width&quot;:438.25}"/>
</p:tagLst>
</file>

<file path=ppt/tags/tag68.xml><?xml version="1.0" encoding="utf-8"?>
<p:tagLst xmlns:p="http://schemas.openxmlformats.org/presentationml/2006/main">
  <p:tag name="KSO_WM_DIAGRAM_VIRTUALLY_FRAME" val="{&quot;height&quot;:526.9,&quot;left&quot;:100.4,&quot;top&quot;:13.1,&quot;width&quot;:438.25}"/>
</p:tagLst>
</file>

<file path=ppt/tags/tag69.xml><?xml version="1.0" encoding="utf-8"?>
<p:tagLst xmlns:p="http://schemas.openxmlformats.org/presentationml/2006/main">
  <p:tag name="KSO_WM_DIAGRAM_VIRTUALLY_FRAME" val="{&quot;height&quot;:526.9,&quot;left&quot;:100.4,&quot;top&quot;:13.1,&quot;width&quot;:438.25}"/>
</p:tagLst>
</file>

<file path=ppt/tags/tag70.xml><?xml version="1.0" encoding="utf-8"?>
<p:tagLst xmlns:p="http://schemas.openxmlformats.org/presentationml/2006/main">
  <p:tag name="KSO_WM_DIAGRAM_VIRTUALLY_FRAME" val="{&quot;height&quot;:526.9,&quot;left&quot;:100.4,&quot;top&quot;:13.1,&quot;width&quot;:438.25}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684</Words>
  <Application>WPS 演示</Application>
  <PresentationFormat>宽屏</PresentationFormat>
  <Paragraphs>25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Andy</cp:lastModifiedBy>
  <cp:revision>159</cp:revision>
  <dcterms:created xsi:type="dcterms:W3CDTF">2019-06-19T02:08:00Z</dcterms:created>
  <dcterms:modified xsi:type="dcterms:W3CDTF">2026-07-22T08:53:51Z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F1B6A2848036499999C4064A62183F73_13</vt:lpwstr>
  </property>
</Properties>
</file>